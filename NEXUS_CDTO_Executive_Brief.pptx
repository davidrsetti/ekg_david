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Enterprise Knowledge Graph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CCAA"/>
                </a:solidFill>
              </a:rPr>
              <a:t>CDTO Executive Briefing  · 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The only platform that connects business capabilities → applications → data assets → AI agents → security findings in one queryable knowledge graph with natural-language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727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36633"/>
                </a:solidFill>
              </a:rPr>
              <a:t>10 CAPABILITIES  ·  LIVE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01952"/>
            <a:ext cx="5715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9293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💬  Knowledge Graph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214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NL → SPARQL → synthesised answer in seconds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01952"/>
            <a:ext cx="5715000" cy="438912"/>
          </a:xfrm>
          <a:prstGeom prst="rect">
            <a:avLst/>
          </a:prstGeom>
          <a:solidFill>
            <a:srgbClr val="FD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01952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9293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📊  Portfolio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214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Auto-scores every app on Gartner TIME model from live 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95728"/>
            <a:ext cx="5715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395728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2423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🏥  SA Portfolio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26151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6-dim scan: gaps, tech debt, orphans, hotspots, data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395728"/>
            <a:ext cx="5715000" cy="438912"/>
          </a:xfrm>
          <a:prstGeom prst="rect">
            <a:avLst/>
          </a:prstGeom>
          <a:solidFill>
            <a:srgbClr val="FD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395728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423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🧭  Guided SA Advisor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6151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Graph-grounded 4-step SA interview → recommendations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89504"/>
            <a:ext cx="5715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889504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29169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🗺️  Architecture Diagrams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108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7 diagram types auto-generated; draw.io / ArchiMate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89504"/>
            <a:ext cx="5715000" cy="438912"/>
          </a:xfrm>
          <a:prstGeom prst="rect">
            <a:avLst/>
          </a:prstGeom>
          <a:solidFill>
            <a:srgbClr val="FD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889504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9169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💥  Change Impact Radar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108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6 parallel traversals: dependents, caps, data, agents, people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383280"/>
            <a:ext cx="5715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383280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4107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🤖  AI Agent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36027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Registry + risk tiers + 0–100 governance score from graph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383280"/>
            <a:ext cx="5715000" cy="438912"/>
          </a:xfrm>
          <a:prstGeom prst="rect">
            <a:avLst/>
          </a:prstGeom>
          <a:solidFill>
            <a:srgbClr val="FD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3383280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4107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📄  ADR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36027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MADR-format decision records stored as queryable graph nodes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877056"/>
            <a:ext cx="5715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3877056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390448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📋  Data Query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40965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NL → SQL over Databricks Unity Catalog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877056"/>
            <a:ext cx="5715000" cy="438912"/>
          </a:xfrm>
          <a:prstGeom prst="rect">
            <a:avLst/>
          </a:prstGeom>
          <a:solidFill>
            <a:srgbClr val="FD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877056"/>
            <a:ext cx="45720" cy="438912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390448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🔍  Audit &amp; Observability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0965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Immutable audit log · PII detection · guard block metrics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6592824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</a:rPr>
              <a:t>Stack: Python · FastAPI · Streamlit · StarDog RDF/SPARQL · Databricks SQL · OpenAI o3-mini / GPT-4o  ·  Role-based JWT auth  ·  9-stage safe query pipeline  ·  Immutable audit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No Competitor Can Replicate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AA"/>
                </a:solidFill>
              </a:rPr>
              <a:t>Competitive Differentiation  · 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36633"/>
                </a:solidFill>
              </a:rPr>
              <a:t>STRUCTURAL MOAT vs. INCUMBENTS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35024"/>
            <a:ext cx="841248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533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Competitor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3533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Their 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3533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Their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3533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NEXUS Advantage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9344"/>
            <a:ext cx="84124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276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LeanIX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6276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Portfolio roadmaps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6276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444"/>
                </a:solidFill>
              </a:rPr>
              <a:t>Manual entry · no graph · no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276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Live graph TIME scoring · NL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56816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9751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Ardoq / Bizzdesign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19751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ArchiMate modelling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9751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444"/>
                </a:solidFill>
              </a:rPr>
              <a:t>No NL · no data governance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9751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NL→SPARQL + graph-grounded SA advisor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04288"/>
            <a:ext cx="84124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3225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Collibra / 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23225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Data catalog + lineage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3225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444"/>
                </a:solidFill>
              </a:rPr>
              <a:t>No EA/SA · no capability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3225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EA + data + AI agents in one graph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51760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6700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ServiceNow CMDB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26700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Configuration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6700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444"/>
                </a:solidFill>
              </a:rPr>
              <a:t>CI dependencies only · no semantic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6700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Full blast-radius: caps, data, people,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99232"/>
            <a:ext cx="84124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0175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Microsoft Purview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30175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Azure data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30175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444"/>
                </a:solidFill>
              </a:rPr>
              <a:t>No SA advisor · no capability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0175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Cross-domain: EA + data + AI +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46703"/>
            <a:ext cx="8412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364991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Palantir AIP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3364991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Powerful ontology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364991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444"/>
                </a:solidFill>
              </a:rPr>
              <a:t>$$$ · opinionated · no guided SA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364991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Approachable NL-native · guided interview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1051560"/>
            <a:ext cx="3154680" cy="5577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32520" y="1051560"/>
            <a:ext cx="315468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107899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NEXT ON ROADMAP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32520" y="1435608"/>
            <a:ext cx="64008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7968" y="147218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D-4  Semantic 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8" y="170992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Vector + graph hybrid. Eliminates 'no results' from name mismatches; injects entity hints into SPARQL generation.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32520" y="2642616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87968" y="267919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D-5  Executive Briefing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8" y="2916936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Weekly auto-generated HTML portfolio report: TIME distribution, top-5 invest/eliminate, capability heat map.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3849624"/>
            <a:ext cx="64008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87968" y="388620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D-6  Standards Conformance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7968" y="4123944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EA rules authored in-graph, evaluated against it. Live pass/fail conformance dashboard.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32520" y="5056632"/>
            <a:ext cx="64008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87968" y="5093208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</a:rPr>
              <a:t>E-1  ServiceNow CMDB Sync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7968" y="5330952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Two-way sync. NEXUS becomes the semantic intelligence layer above CMDB.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199632"/>
            <a:ext cx="8321040" cy="502920"/>
          </a:xfrm>
          <a:prstGeom prst="rect">
            <a:avLst/>
          </a:prstGeom>
          <a:solidFill>
            <a:srgbClr val="FD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6199632"/>
            <a:ext cx="54864" cy="502920"/>
          </a:xfrm>
          <a:prstGeom prst="rect">
            <a:avLst/>
          </a:prstGeom>
          <a:solidFill>
            <a:srgbClr val="F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236208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Security by design: 9-stage safe query pipeline · Role-based JWT · SPARQL injection guard · PII auto-redaction · Immutable audit log · Randomised JWT secret per process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6592824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BBBBBB"/>
                </a:solidFill>
              </a:rPr>
              <a:t>NEXUS v2  ·  Confidential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